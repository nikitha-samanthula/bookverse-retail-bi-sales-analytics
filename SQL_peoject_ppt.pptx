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7" r:id="rId5"/>
    <p:sldId id="261" r:id="rId6"/>
    <p:sldId id="268" r:id="rId7"/>
    <p:sldId id="269" r:id="rId8"/>
    <p:sldId id="262" r:id="rId9"/>
    <p:sldId id="270" r:id="rId10"/>
    <p:sldId id="277" r:id="rId11"/>
    <p:sldId id="272" r:id="rId12"/>
    <p:sldId id="275" r:id="rId13"/>
    <p:sldId id="273" r:id="rId14"/>
    <p:sldId id="274" r:id="rId15"/>
    <p:sldId id="279" r:id="rId16"/>
    <p:sldId id="280" r:id="rId17"/>
    <p:sldId id="278" r:id="rId18"/>
    <p:sldId id="281" r:id="rId19"/>
    <p:sldId id="282" r:id="rId20"/>
    <p:sldId id="283" r:id="rId21"/>
    <p:sldId id="284" r:id="rId22"/>
    <p:sldId id="263" r:id="rId23"/>
    <p:sldId id="264" r:id="rId24"/>
    <p:sldId id="26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42B3-D4C3-4215-ACBE-1F1C1C77C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55BE2-8F03-4029-8C01-A6E2DE235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3DFD2-316C-46E4-BBE6-B1B4BEAF9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EC23-5D32-4992-BAA4-C286B7F3EAD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2B6B1-483B-40BC-911C-7B1AC669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71E95-B7CA-4372-9BD0-E37DCB9A7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86AF-8949-43BF-909E-92EA61FEE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248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DDABE-FCFC-4A88-9AA1-51443C85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AD99A-9D48-4880-82FE-73FB77A8C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C1239-1574-4CCE-B927-D437A3398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EC23-5D32-4992-BAA4-C286B7F3EAD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DABDC-3F83-44BD-98BE-16B124623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571FB-17B9-455F-BEE9-0C1AE889D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86AF-8949-43BF-909E-92EA61FEE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587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6E9F-D115-4075-9083-5FD496488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03C5F-FEF7-4BF1-857B-20065E616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33474-90B6-4F19-AB59-E4E8A1362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EC23-5D32-4992-BAA4-C286B7F3EAD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C4D04-FC76-43E0-961D-D6B31B71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530DB-15F7-4F42-A7F7-C19198E1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86AF-8949-43BF-909E-92EA61FEE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32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2D85-5981-42FC-A2CD-8DE1C471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F68F9-8094-4688-AA18-92625DF005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1D7FA-F03E-41CD-A8A1-0036B3176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6315E-E7D0-4EBB-B773-A0DBFAC46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EC23-5D32-4992-BAA4-C286B7F3EAD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695FC7-D031-4556-A20F-77B6ADA2B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17871-A64B-4959-9737-7D0A5705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86AF-8949-43BF-909E-92EA61FEE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84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9482F-9B3E-4157-BE3C-4445750F4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C51B2-53E5-43BA-B908-FD2A5C4E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46073-5EF0-4C81-9603-A02FF3B3E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A34063-4E3C-49DA-AEA2-06AC6C8EAC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0CFB1-BCD1-4C9F-BA53-540570550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D6C61C-0346-4FEC-8DD6-4C77EE90C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EC23-5D32-4992-BAA4-C286B7F3EAD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4A0A8C-D242-4FBF-9696-6071673F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068937-5963-4AF0-9AFB-4A24A0EDA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86AF-8949-43BF-909E-92EA61FEE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03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5BAFA-25B0-423C-A32E-AD53110CD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68C5B2-8F35-454F-85C3-ED1B1906C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EC23-5D32-4992-BAA4-C286B7F3EAD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9CB2D8-B459-4E93-B8CD-6BE6A0111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1A753D-797B-4387-B551-C669AFAD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86AF-8949-43BF-909E-92EA61FEE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253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319795-939B-4137-B8E6-35A99329F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EC23-5D32-4992-BAA4-C286B7F3EAD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2B0C73-A607-4BE7-BB3A-3FB87CCA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41F90-D9AE-42AD-B9C1-5A1394E7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86AF-8949-43BF-909E-92EA61FEE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32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2B2E-EFD4-4752-8399-EFF7C7DE4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B704B-280C-4356-AA36-A636EB742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B252A-C539-4062-BA45-7E974CC36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D7AC65-D89F-4C23-9E17-39D73317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EC23-5D32-4992-BAA4-C286B7F3EAD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087C4-2367-4510-B8A8-FCD0AE0F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BC3E6-2D68-4664-BB60-029CA30D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86AF-8949-43BF-909E-92EA61FEE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031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39CC4-47CF-43E6-B426-2F16A1F08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82AF38-9589-45AF-9B50-B79C88761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DE29A-C4A5-4A99-9512-C03A70EF0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1EA75-F487-4418-969F-663D8E611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EC23-5D32-4992-BAA4-C286B7F3EAD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19C08-DAFF-4196-AAD4-9A864B866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A5B75-48FE-48DB-A9F3-440C4B30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86AF-8949-43BF-909E-92EA61FEE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315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5DDA7-1A82-4083-BC50-53D58BB5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61C39-9E2A-4C39-8B04-407AE356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94AFB-D30F-45D6-A5D0-78B52301E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EC23-5D32-4992-BAA4-C286B7F3EAD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DC2FB-D619-4722-A7E7-FF755CC7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35A88-25FF-4A57-BEFC-EC8A34C96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86AF-8949-43BF-909E-92EA61FEE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339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694208-9996-489D-9FED-F31743165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594A18-D789-4973-B9DF-77AFBAA20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04962-868B-4461-9F1A-4B0A041B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EC23-5D32-4992-BAA4-C286B7F3EAD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4C01C-01FA-4F4A-8C90-A705FACFB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01988-BE6D-48F4-8978-2FA1B03C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C86AF-8949-43BF-909E-92EA61FEE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85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13BEB2-3F0F-4448-836C-729852675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734FA-B747-45E4-B2D3-147A6FD46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505ED-83A5-43EA-A4A5-7C74A6CD27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FEC23-5D32-4992-BAA4-C286B7F3EAD1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32BB8-F593-40D5-92C4-9111CD762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EFB56-31D4-47A9-9B50-AC6A5DCF6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C86AF-8949-43BF-909E-92EA61FEE3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461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ikitha-Samanthula" TargetMode="External"/><Relationship Id="rId2" Type="http://schemas.openxmlformats.org/officeDocument/2006/relationships/hyperlink" Target="https://www.linkedin.com/in/nikitha-samanthula-38423743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B6217-2F94-4A94-BCE5-043374B3E9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1E6D7-3DAF-402A-9DDF-6DDB2D2E4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Google Shape;98;p1">
            <a:extLst>
              <a:ext uri="{FF2B5EF4-FFF2-40B4-BE49-F238E27FC236}">
                <a16:creationId xmlns:a16="http://schemas.microsoft.com/office/drawing/2014/main" id="{1BB51E5F-8982-4F01-8992-B086E01EC27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3" y="9625"/>
            <a:ext cx="12191407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82F85D4-9D3F-4DBF-B618-5AE93B732389}"/>
              </a:ext>
            </a:extLst>
          </p:cNvPr>
          <p:cNvSpPr/>
          <p:nvPr/>
        </p:nvSpPr>
        <p:spPr>
          <a:xfrm>
            <a:off x="3047703" y="3602038"/>
            <a:ext cx="6096000" cy="84773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IN" sz="2800" b="1" dirty="0">
                <a:latin typeface="Georgia" panose="02040502050405020303" pitchFamily="18" charset="0"/>
              </a:rPr>
              <a:t>Book Verse Retail Analytics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latin typeface="Georgia" panose="02040502050405020303" pitchFamily="18" charset="0"/>
              </a:rPr>
              <a:t>A</a:t>
            </a:r>
            <a:r>
              <a:rPr lang="en-IN" sz="1600" b="1" dirty="0">
                <a:latin typeface="Georgia" panose="02040502050405020303" pitchFamily="18" charset="0"/>
              </a:rPr>
              <a:t> DATABASE Using MYSQL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064F5F-4E12-45C4-B86E-9BC91BEA7653}"/>
              </a:ext>
            </a:extLst>
          </p:cNvPr>
          <p:cNvSpPr/>
          <p:nvPr/>
        </p:nvSpPr>
        <p:spPr>
          <a:xfrm>
            <a:off x="3047703" y="5095281"/>
            <a:ext cx="6096000" cy="113306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Georgia" panose="02040502050405020303" pitchFamily="18" charset="0"/>
              </a:rPr>
              <a:t>Presented By: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NIKITHA SAMANTHULA</a:t>
            </a:r>
            <a:endParaRPr lang="en-IN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278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01646-312F-458C-BBDA-81A230D68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83945"/>
            <a:ext cx="10515600" cy="67440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Georgia" panose="02040502050405020303" pitchFamily="18" charset="0"/>
              </a:rPr>
              <a:t>About Me</a:t>
            </a:r>
            <a:endParaRPr lang="en-IN" sz="32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FA4CA-FB20-4A46-83B3-7B2BD77F4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39528"/>
            <a:ext cx="10515599" cy="553452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C00000"/>
                </a:solidFill>
                <a:latin typeface="Georgia" panose="02040502050405020303" pitchFamily="18" charset="0"/>
              </a:rPr>
              <a:t>Nikitha Samanthula</a:t>
            </a:r>
            <a:r>
              <a:rPr lang="en-US" sz="2400" dirty="0">
                <a:latin typeface="Georgia" panose="02040502050405020303" pitchFamily="18" charset="0"/>
              </a:rPr>
              <a:t>, M.Sc. Horticulture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Georgia" panose="02040502050405020303" pitchFamily="18" charset="0"/>
              </a:rPr>
              <a:t>Why Data Science?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Georgia" panose="02040502050405020303" pitchFamily="18" charset="0"/>
              </a:rPr>
              <a:t>	Data science plays a key role to solve the real-world problems, improves the ability to make better decisions, provides useful insights and even build successful career with high demands, diverse job opportunities.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Georgia" panose="02040502050405020303" pitchFamily="18" charset="0"/>
              </a:rPr>
              <a:t>W</a:t>
            </a:r>
            <a:r>
              <a:rPr lang="en-IN" sz="2400" b="1" dirty="0" err="1">
                <a:latin typeface="Georgia" panose="02040502050405020303" pitchFamily="18" charset="0"/>
              </a:rPr>
              <a:t>ork</a:t>
            </a:r>
            <a:r>
              <a:rPr lang="en-IN" sz="2400" b="1" dirty="0">
                <a:latin typeface="Georgia" panose="02040502050405020303" pitchFamily="18" charset="0"/>
              </a:rPr>
              <a:t> Experience:</a:t>
            </a:r>
            <a:r>
              <a:rPr lang="en-IN" sz="2400" dirty="0">
                <a:latin typeface="Georgia" panose="02040502050405020303" pitchFamily="18" charset="0"/>
              </a:rPr>
              <a:t> 3 years in horticulture field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Georgia" panose="02040502050405020303" pitchFamily="18" charset="0"/>
              </a:rPr>
              <a:t>LinkedIn:  </a:t>
            </a:r>
            <a:r>
              <a:rPr lang="en-US" sz="2000" b="1" dirty="0">
                <a:latin typeface="Georgia" panose="02040502050405020303" pitchFamily="18" charset="0"/>
                <a:hlinkClick r:id="rId2"/>
              </a:rPr>
              <a:t>https://www.linkedin.com/in/nikitha-samanthula-384237430</a:t>
            </a:r>
            <a:endParaRPr lang="en-US" sz="2000" b="1" dirty="0">
              <a:latin typeface="Georgia" panose="02040502050405020303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Georgia" panose="02040502050405020303" pitchFamily="18" charset="0"/>
              </a:rPr>
              <a:t>GitHub Repository: </a:t>
            </a:r>
            <a:r>
              <a:rPr lang="en-US" sz="2000" b="1" dirty="0">
                <a:latin typeface="Georgia" panose="02040502050405020303" pitchFamily="18" charset="0"/>
                <a:hlinkClick r:id="rId3"/>
              </a:rPr>
              <a:t>https://github.com/Nikitha-Samanthula</a:t>
            </a:r>
            <a:endParaRPr lang="en-US" sz="2000" dirty="0">
              <a:latin typeface="Georgia" panose="020405020504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62E4BD-6085-4D51-8191-DC5676F68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0904" y="6083166"/>
            <a:ext cx="2752825" cy="49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64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9582-3A68-45B7-B89C-7281FED9E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978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Georgia" panose="02040502050405020303" pitchFamily="18" charset="0"/>
              </a:rPr>
              <a:t>Agenda</a:t>
            </a:r>
            <a:endParaRPr lang="en-IN" sz="32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EFCB8-695D-4A81-A81C-4FCE545F2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9036"/>
            <a:ext cx="10515600" cy="48679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Project Overview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Database Structure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ER Diagram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Key Analysis Questions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Experience/challenges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Conclusion</a:t>
            </a:r>
            <a:endParaRPr lang="en-IN" sz="2400" dirty="0">
              <a:latin typeface="Georgia" panose="020405020504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526EB-9B5B-4D53-A903-9C8FE1121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182" y="6176963"/>
            <a:ext cx="2463209" cy="43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77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0F502-2479-4D0C-BBD6-AF1322E98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7748"/>
            <a:ext cx="10515600" cy="72252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Georgia" panose="02040502050405020303" pitchFamily="18" charset="0"/>
              </a:rPr>
              <a:t>Project overview</a:t>
            </a:r>
            <a:endParaRPr lang="en-IN" sz="32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506BD-654F-4BCC-8530-385300843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20277"/>
            <a:ext cx="11029749" cy="5755908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3400" dirty="0">
                <a:latin typeface="Georgia" panose="02040502050405020303" pitchFamily="18" charset="0"/>
              </a:rPr>
              <a:t>The project uses MySQL to analyze orders related to different books and identify important business patterns.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400" b="1" dirty="0">
                <a:latin typeface="Georgia" panose="02040502050405020303" pitchFamily="18" charset="0"/>
              </a:rPr>
              <a:t>The analysis focuses on:</a:t>
            </a:r>
          </a:p>
          <a:p>
            <a:pPr>
              <a:lnSpc>
                <a:spcPct val="120000"/>
              </a:lnSpc>
            </a:pPr>
            <a:r>
              <a:rPr lang="en-US" sz="3400" dirty="0">
                <a:latin typeface="Georgia" panose="02040502050405020303" pitchFamily="18" charset="0"/>
              </a:rPr>
              <a:t>Sales performances</a:t>
            </a:r>
          </a:p>
          <a:p>
            <a:pPr>
              <a:lnSpc>
                <a:spcPct val="120000"/>
              </a:lnSpc>
            </a:pPr>
            <a:r>
              <a:rPr lang="en-US" sz="3400" dirty="0">
                <a:latin typeface="Georgia" panose="02040502050405020303" pitchFamily="18" charset="0"/>
              </a:rPr>
              <a:t>Orders management</a:t>
            </a:r>
          </a:p>
          <a:p>
            <a:pPr>
              <a:lnSpc>
                <a:spcPct val="120000"/>
              </a:lnSpc>
            </a:pPr>
            <a:r>
              <a:rPr lang="en-US" sz="3400" dirty="0">
                <a:latin typeface="Georgia" panose="02040502050405020303" pitchFamily="18" charset="0"/>
              </a:rPr>
              <a:t>Customer purchasing behavior</a:t>
            </a:r>
          </a:p>
          <a:p>
            <a:pPr>
              <a:lnSpc>
                <a:spcPct val="120000"/>
              </a:lnSpc>
            </a:pPr>
            <a:r>
              <a:rPr lang="en-US" sz="3400" dirty="0">
                <a:latin typeface="Georgia" panose="02040502050405020303" pitchFamily="18" charset="0"/>
              </a:rPr>
              <a:t>Product demand</a:t>
            </a:r>
          </a:p>
          <a:p>
            <a:pPr>
              <a:lnSpc>
                <a:spcPct val="120000"/>
              </a:lnSpc>
            </a:pPr>
            <a:r>
              <a:rPr lang="en-US" sz="3400" dirty="0">
                <a:latin typeface="Georgia" panose="02040502050405020303" pitchFamily="18" charset="0"/>
              </a:rPr>
              <a:t>Revenue generated</a:t>
            </a:r>
          </a:p>
          <a:p>
            <a:pPr>
              <a:lnSpc>
                <a:spcPct val="120000"/>
              </a:lnSpc>
            </a:pPr>
            <a:r>
              <a:rPr lang="en-US" sz="3400" dirty="0">
                <a:latin typeface="Georgia" panose="02040502050405020303" pitchFamily="18" charset="0"/>
              </a:rPr>
              <a:t>Inventory availability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3400" b="1" dirty="0">
                <a:latin typeface="Georgia" panose="02040502050405020303" pitchFamily="18" charset="0"/>
              </a:rPr>
              <a:t>K</a:t>
            </a:r>
            <a:r>
              <a:rPr lang="en-IN" sz="3400" b="1" dirty="0" err="1">
                <a:latin typeface="Georgia" panose="02040502050405020303" pitchFamily="18" charset="0"/>
              </a:rPr>
              <a:t>ey</a:t>
            </a:r>
            <a:r>
              <a:rPr lang="en-IN" sz="3400" b="1" dirty="0">
                <a:latin typeface="Georgia" panose="02040502050405020303" pitchFamily="18" charset="0"/>
              </a:rPr>
              <a:t> Insight</a:t>
            </a:r>
          </a:p>
          <a:p>
            <a:pPr>
              <a:lnSpc>
                <a:spcPct val="170000"/>
              </a:lnSpc>
            </a:pPr>
            <a:r>
              <a:rPr lang="en-US" sz="3400" dirty="0">
                <a:latin typeface="Georgia" panose="02040502050405020303" pitchFamily="18" charset="0"/>
              </a:rPr>
              <a:t>S</a:t>
            </a:r>
            <a:r>
              <a:rPr lang="en-IN" sz="3400" dirty="0">
                <a:latin typeface="Georgia" panose="02040502050405020303" pitchFamily="18" charset="0"/>
              </a:rPr>
              <a:t>QL analysis help Book-Verse Retailers to understand operational performance and make data-driven decisions.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B9B13-7339-4E32-8648-49BF2CB3E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133" y="6236385"/>
            <a:ext cx="2444815" cy="43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7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DDE8-C631-4F76-8717-7CFE8243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68" y="365125"/>
            <a:ext cx="10680032" cy="59740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Georgia" panose="02040502050405020303" pitchFamily="18" charset="0"/>
              </a:rPr>
              <a:t>ER Diagram &amp; Database Structure</a:t>
            </a:r>
            <a:endParaRPr lang="en-IN" sz="32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8AAFC-0853-431D-BD54-E4BCCD9D0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962526"/>
            <a:ext cx="4562374" cy="4831143"/>
          </a:xfrm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400" b="1" dirty="0">
                <a:solidFill>
                  <a:srgbClr val="C00000"/>
                </a:solidFill>
                <a:latin typeface="Georgia" panose="02040502050405020303" pitchFamily="18" charset="0"/>
              </a:rPr>
              <a:t>Database structure: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900" dirty="0">
                <a:latin typeface="Georgia" panose="02040502050405020303" pitchFamily="18" charset="0"/>
              </a:rPr>
              <a:t>The project contains 3 interrelated tables: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900" dirty="0">
                <a:latin typeface="Georgia" panose="02040502050405020303" pitchFamily="18" charset="0"/>
              </a:rPr>
              <a:t>1. </a:t>
            </a:r>
            <a:r>
              <a:rPr lang="en-US" sz="2900" b="1" dirty="0">
                <a:latin typeface="Georgia" panose="02040502050405020303" pitchFamily="18" charset="0"/>
              </a:rPr>
              <a:t>Books</a:t>
            </a:r>
            <a:r>
              <a:rPr lang="en-US" sz="2900" dirty="0">
                <a:latin typeface="Georgia" panose="02040502050405020303" pitchFamily="18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900" dirty="0">
                <a:latin typeface="Georgia" panose="02040502050405020303" pitchFamily="18" charset="0"/>
              </a:rPr>
              <a:t>    Primary key – </a:t>
            </a:r>
            <a:r>
              <a:rPr lang="en-US" sz="2900" dirty="0" err="1">
                <a:latin typeface="Georgia" panose="02040502050405020303" pitchFamily="18" charset="0"/>
              </a:rPr>
              <a:t>Book_ID</a:t>
            </a:r>
            <a:endParaRPr lang="en-US" sz="2900" dirty="0">
              <a:latin typeface="Georgia" panose="02040502050405020303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900" dirty="0">
                <a:latin typeface="Georgia" panose="02040502050405020303" pitchFamily="18" charset="0"/>
              </a:rPr>
              <a:t>2. </a:t>
            </a:r>
            <a:r>
              <a:rPr lang="en-US" sz="2900" b="1" dirty="0">
                <a:latin typeface="Georgia" panose="02040502050405020303" pitchFamily="18" charset="0"/>
              </a:rPr>
              <a:t>Orders</a:t>
            </a:r>
            <a:r>
              <a:rPr lang="en-US" sz="2900" dirty="0">
                <a:latin typeface="Georgia" panose="02040502050405020303" pitchFamily="18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900" dirty="0">
                <a:latin typeface="Georgia" panose="02040502050405020303" pitchFamily="18" charset="0"/>
              </a:rPr>
              <a:t>   Primary key – </a:t>
            </a:r>
            <a:r>
              <a:rPr lang="en-US" sz="2900" dirty="0" err="1">
                <a:latin typeface="Georgia" panose="02040502050405020303" pitchFamily="18" charset="0"/>
              </a:rPr>
              <a:t>Order_ID</a:t>
            </a:r>
            <a:endParaRPr lang="en-US" sz="2900" dirty="0">
              <a:latin typeface="Georgia" panose="02040502050405020303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900" dirty="0">
                <a:latin typeface="Georgia" panose="02040502050405020303" pitchFamily="18" charset="0"/>
              </a:rPr>
              <a:t>   Foreign Keys- </a:t>
            </a:r>
            <a:r>
              <a:rPr lang="en-US" sz="2900" dirty="0" err="1">
                <a:latin typeface="Georgia" panose="02040502050405020303" pitchFamily="18" charset="0"/>
              </a:rPr>
              <a:t>Customer_ID</a:t>
            </a:r>
            <a:r>
              <a:rPr lang="en-US" sz="2900" dirty="0">
                <a:latin typeface="Georgia" panose="02040502050405020303" pitchFamily="18" charset="0"/>
              </a:rPr>
              <a:t>, </a:t>
            </a:r>
            <a:r>
              <a:rPr lang="en-US" sz="2900" dirty="0" err="1">
                <a:latin typeface="Georgia" panose="02040502050405020303" pitchFamily="18" charset="0"/>
              </a:rPr>
              <a:t>Book_ID</a:t>
            </a:r>
            <a:endParaRPr lang="en-US" sz="2900" dirty="0">
              <a:latin typeface="Georgia" panose="02040502050405020303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900" dirty="0">
                <a:latin typeface="Georgia" panose="02040502050405020303" pitchFamily="18" charset="0"/>
              </a:rPr>
              <a:t>3. </a:t>
            </a:r>
            <a:r>
              <a:rPr lang="en-US" sz="2900" b="1" dirty="0">
                <a:latin typeface="Georgia" panose="02040502050405020303" pitchFamily="18" charset="0"/>
              </a:rPr>
              <a:t>Customers</a:t>
            </a:r>
            <a:r>
              <a:rPr lang="en-US" sz="2900" dirty="0">
                <a:latin typeface="Georgia" panose="02040502050405020303" pitchFamily="18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900" dirty="0">
                <a:latin typeface="Georgia" panose="02040502050405020303" pitchFamily="18" charset="0"/>
              </a:rPr>
              <a:t>    Primary Key- </a:t>
            </a:r>
            <a:r>
              <a:rPr lang="en-US" sz="2900" dirty="0" err="1">
                <a:latin typeface="Georgia" panose="02040502050405020303" pitchFamily="18" charset="0"/>
              </a:rPr>
              <a:t>Customer_ID</a:t>
            </a:r>
            <a:endParaRPr lang="en-US" sz="2900" dirty="0">
              <a:latin typeface="Georgia" panose="02040502050405020303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CD099A-6F66-4FD2-A8E7-F8172EC9F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64331"/>
            <a:ext cx="7132321" cy="37634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CDCECD-E600-4C41-A3E0-098714729908}"/>
              </a:ext>
            </a:extLst>
          </p:cNvPr>
          <p:cNvSpPr txBox="1"/>
          <p:nvPr/>
        </p:nvSpPr>
        <p:spPr>
          <a:xfrm>
            <a:off x="789271" y="5558055"/>
            <a:ext cx="11088303" cy="95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These tables are connected using Primary Keys and Foreign Keys to maintain relational database integrity. </a:t>
            </a:r>
            <a:endParaRPr lang="en-IN" sz="2000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7A57D-4E19-4267-8D03-06513B1D9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590" y="6169755"/>
            <a:ext cx="2708543" cy="48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3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08CF-0702-4375-B56E-68878061E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9011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Basic Analysis-Questions</a:t>
            </a:r>
            <a:endParaRPr lang="en-IN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2785D-9693-483C-B2C5-729BFDC49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0909"/>
            <a:ext cx="10515600" cy="4916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Georgia" panose="02040502050405020303" pitchFamily="18" charset="0"/>
              </a:rPr>
              <a:t>1. What is the total number of books?</a:t>
            </a: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Georgia" panose="02040502050405020303" pitchFamily="18" charset="0"/>
              </a:rPr>
              <a:t>2. What is the total number of customers?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sz="2400" dirty="0">
              <a:latin typeface="Georgia" panose="02040502050405020303" pitchFamily="18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Georgia" panose="02040502050405020303" pitchFamily="18" charset="0"/>
              </a:rPr>
              <a:t>3. What is the total number of orders?</a:t>
            </a: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r>
              <a:rPr lang="en-US" sz="2000" dirty="0">
                <a:latin typeface="Georgia" panose="02040502050405020303" pitchFamily="18" charset="0"/>
              </a:rPr>
              <a:t>This query helps us to understand the basic analysis of data </a:t>
            </a:r>
            <a:r>
              <a:rPr lang="en-US" sz="2000" dirty="0" err="1">
                <a:latin typeface="Georgia" panose="02040502050405020303" pitchFamily="18" charset="0"/>
              </a:rPr>
              <a:t>i</a:t>
            </a:r>
            <a:r>
              <a:rPr lang="en-US" sz="2000" dirty="0">
                <a:latin typeface="Georgia" panose="02040502050405020303" pitchFamily="18" charset="0"/>
              </a:rPr>
              <a:t>. e., there are 496 books, 500 customers and 495 orders.    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6E29C2-FB6F-4852-B023-8969C5D92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444" y="1803228"/>
            <a:ext cx="4960981" cy="4063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D443C6-BFBE-4C20-BC35-67A39385B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777" y="1260909"/>
            <a:ext cx="2284994" cy="9227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262957-0812-44D7-9355-B252293DBB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6344"/>
          <a:stretch/>
        </p:blipFill>
        <p:spPr>
          <a:xfrm>
            <a:off x="1333939" y="3257549"/>
            <a:ext cx="5355619" cy="6473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3306AA-5AE5-425F-9578-BE9F298240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6278" b="6628"/>
          <a:stretch/>
        </p:blipFill>
        <p:spPr>
          <a:xfrm>
            <a:off x="1228061" y="4629199"/>
            <a:ext cx="5875383" cy="6473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B452A7-A432-49CD-8439-E282C568C7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4011" y="2916255"/>
            <a:ext cx="2256526" cy="9227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15198F-F769-46D3-AD15-1451B18BC6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305" y="4344696"/>
            <a:ext cx="2179523" cy="9227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A70F67-E2C4-481A-9E38-B3FE006A45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9753" y="6081553"/>
            <a:ext cx="2589115" cy="46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00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64746-B816-4901-A38C-51A3F3967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0140"/>
            <a:ext cx="10515600" cy="6189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4. </a:t>
            </a:r>
            <a:r>
              <a:rPr lang="en-US" sz="2400" dirty="0">
                <a:latin typeface="Georgia" panose="02040502050405020303" pitchFamily="18" charset="0"/>
              </a:rPr>
              <a:t>What is the total quantity of books sold?</a:t>
            </a: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Georgia" panose="02040502050405020303" pitchFamily="18" charset="0"/>
              </a:rPr>
              <a:t>5. What is the total revenue generated?</a:t>
            </a: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Georgia" panose="02040502050405020303" pitchFamily="18" charset="0"/>
              </a:rPr>
              <a:t>6. What is the average order value?</a:t>
            </a: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000" dirty="0">
                <a:latin typeface="Georgia" panose="02040502050405020303" pitchFamily="18" charset="0"/>
              </a:rPr>
              <a:t>These queries will help analyze book sales performance by measuring the total number of books sold, the overall revenue generated, and the average revenue earned per order.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4C4470-5AA1-4EEE-8D9D-82B31B6EC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308" y="1129559"/>
            <a:ext cx="5705400" cy="4741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D6ACA2-4CD7-42DD-91DA-792324DC2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131" y="709912"/>
            <a:ext cx="2275666" cy="918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DAE687-609F-41D4-85FB-F57B00A57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308" y="2881958"/>
            <a:ext cx="5705400" cy="427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FF303B-6FA0-4C85-B38E-A05ECFCBE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8636" y="2286985"/>
            <a:ext cx="2831235" cy="808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A27607-74CC-4D32-9E5D-3F07F802E6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308" y="4261737"/>
            <a:ext cx="5705400" cy="4279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02335E-9FFD-4D7B-A5B5-1AEED0009B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6421" y="3548352"/>
            <a:ext cx="2275666" cy="11412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02696B-4C88-4DF9-ADA8-44B482CF93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1145" y="6164037"/>
            <a:ext cx="2399621" cy="42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05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5F347-351A-4176-B984-D1B55801A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936"/>
            <a:ext cx="10515600" cy="693654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Georgia" panose="02040502050405020303" pitchFamily="18" charset="0"/>
              </a:rPr>
              <a:t>Key Analysis Questions</a:t>
            </a:r>
            <a:endParaRPr lang="en-IN" sz="32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9CFBC-507B-442D-A712-2054654FC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61" y="909590"/>
            <a:ext cx="11097927" cy="5510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1</a:t>
            </a:r>
            <a:r>
              <a:rPr lang="en-US" dirty="0"/>
              <a:t>. </a:t>
            </a:r>
            <a:r>
              <a:rPr lang="en-US" sz="3200" dirty="0">
                <a:solidFill>
                  <a:srgbClr val="C00000"/>
                </a:solidFill>
                <a:latin typeface="Georgia" panose="02040502050405020303" pitchFamily="18" charset="0"/>
              </a:rPr>
              <a:t>Understand Sales Performance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Georgia" panose="02040502050405020303" pitchFamily="18" charset="0"/>
              </a:rPr>
              <a:t>Which orders have a total amount greater than the average order value?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015E75-40EA-4288-BDAF-61C814B88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11" y="2538712"/>
            <a:ext cx="6723514" cy="8156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15876E-F223-404F-8BD1-B7DBB59AC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9430" y="3503595"/>
            <a:ext cx="5571170" cy="16577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53C9D2-7450-478A-A033-8F67A673A6A6}"/>
              </a:ext>
            </a:extLst>
          </p:cNvPr>
          <p:cNvSpPr txBox="1"/>
          <p:nvPr/>
        </p:nvSpPr>
        <p:spPr>
          <a:xfrm>
            <a:off x="490888" y="5237331"/>
            <a:ext cx="108629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query identifies the orders whose total amount is greater than the average order value, helping highlight higher-value orders and analyze customer purchasing patterns</a:t>
            </a:r>
            <a:endParaRPr lang="en-IN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C8217F-A1AC-4C10-A382-8A826FE44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07" y="6076260"/>
            <a:ext cx="3144061" cy="56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98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EE56D-7F33-4165-B9D6-ACE904C0A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9765"/>
            <a:ext cx="10515600" cy="510139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Georgia" panose="02040502050405020303" pitchFamily="18" charset="0"/>
              </a:rPr>
              <a:t>What is the highest-value orders?</a:t>
            </a: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2400" dirty="0">
              <a:latin typeface="Georgia" panose="02040502050405020303" pitchFamily="18" charset="0"/>
            </a:endParaRPr>
          </a:p>
          <a:p>
            <a:r>
              <a:rPr lang="en-US" sz="2400" b="1" dirty="0">
                <a:latin typeface="Georgia" panose="02040502050405020303" pitchFamily="18" charset="0"/>
              </a:rPr>
              <a:t>Which genre has the highest quantity sold?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58FF4-38ED-4478-8953-EEB8F07BA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88" y="1088180"/>
            <a:ext cx="6505043" cy="6215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738F4D-CCE8-49F3-ACC5-E6E5CB5EA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125" y="1884880"/>
            <a:ext cx="5900475" cy="6588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0B159E-3305-4D95-A73B-5D8D72902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788" y="3327991"/>
            <a:ext cx="8219173" cy="1576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17685A-91DD-4B8D-9345-4108AACB01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9116" y="4015621"/>
            <a:ext cx="4155136" cy="8120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ED3C92-CC59-4178-A07D-BA86469F0A55}"/>
              </a:ext>
            </a:extLst>
          </p:cNvPr>
          <p:cNvSpPr txBox="1"/>
          <p:nvPr/>
        </p:nvSpPr>
        <p:spPr>
          <a:xfrm rot="10800000" flipH="1" flipV="1">
            <a:off x="1050788" y="5310613"/>
            <a:ext cx="101530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These queries identify the highest-value orders and the genre with the highest quantity of books sold, helping analyze top revenue-generating orders and the most popular genre based on sales volume</a:t>
            </a:r>
            <a:r>
              <a:rPr lang="en-US" sz="2000" dirty="0">
                <a:latin typeface="Georgia" panose="02040502050405020303" pitchFamily="18" charset="0"/>
              </a:rPr>
              <a:t>.</a:t>
            </a:r>
            <a:endParaRPr lang="en-IN" sz="2000" dirty="0">
              <a:latin typeface="Georgia" panose="02040502050405020303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31F700-B6B1-43EE-A1B6-CD82E02A5A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9961" y="6212044"/>
            <a:ext cx="2726681" cy="48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29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466B9-2ED6-4D7D-AF51-A6E77C27F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9764"/>
            <a:ext cx="10515600" cy="6083167"/>
          </a:xfrm>
        </p:spPr>
        <p:txBody>
          <a:bodyPr/>
          <a:lstStyle/>
          <a:p>
            <a:r>
              <a:rPr lang="en-US" sz="2400" b="1" dirty="0">
                <a:latin typeface="Georgia" panose="02040502050405020303" pitchFamily="18" charset="0"/>
              </a:rPr>
              <a:t>Which books have sold the highest number of units?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sz="2400" dirty="0"/>
              <a:t>This query identifies the books with the highest number of units sold, helping determine the best-selling books based on sales volume.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0C2450-9DA3-46E7-9902-0E14210FB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57" y="900067"/>
            <a:ext cx="9865092" cy="2661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4B1A7A-46CC-4E57-AAFD-165A44A45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77" y="1710944"/>
            <a:ext cx="5838524" cy="2986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DA2041-B696-43A5-9841-B4C3568CC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5232" y="6137969"/>
            <a:ext cx="2607431" cy="46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61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A1DDC-117A-4DFD-BF04-FB95010C7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624"/>
            <a:ext cx="10515600" cy="607027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Georgia" panose="02040502050405020303" pitchFamily="18" charset="0"/>
              </a:rPr>
              <a:t>2. Understand Customer Purchasing Behaviour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EA696-3787-43B7-B68B-C5D9D9CA8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034"/>
            <a:ext cx="10515600" cy="4944929"/>
          </a:xfrm>
        </p:spPr>
        <p:txBody>
          <a:bodyPr/>
          <a:lstStyle/>
          <a:p>
            <a:r>
              <a:rPr lang="en-US" sz="2400" b="1" dirty="0">
                <a:latin typeface="Georgia" panose="02040502050405020303" pitchFamily="18" charset="0"/>
              </a:rPr>
              <a:t>What is the Average customer spending?</a:t>
            </a:r>
          </a:p>
          <a:p>
            <a:pPr marL="0" indent="0">
              <a:buNone/>
            </a:pPr>
            <a:endParaRPr lang="en-US" sz="2400" b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b="1" dirty="0">
                <a:latin typeface="Georgia" panose="02040502050405020303" pitchFamily="18" charset="0"/>
              </a:rPr>
              <a:t>Who are the repeat customers?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3369B-2242-483B-8C65-D7102BA79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889" y="4316737"/>
            <a:ext cx="6271940" cy="18602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F33D1D-8F2C-4AB3-B596-05E6F8623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724" y="4017050"/>
            <a:ext cx="3826079" cy="2185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2D6DDA-1969-4A97-822F-98EA50DFE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207" y="1749367"/>
            <a:ext cx="6376622" cy="19563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4751D1-C1C7-42C5-9620-4F5D440CC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2835" y="1205951"/>
            <a:ext cx="3874971" cy="24997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941AC2-4D51-4746-8164-E72CDBE806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0567" y="6203047"/>
            <a:ext cx="2795927" cy="49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711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4ED2B-2732-4EA1-B0FC-1EE5C8A38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392"/>
            <a:ext cx="10515600" cy="5570571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Georgia" panose="02040502050405020303" pitchFamily="18" charset="0"/>
              </a:rPr>
              <a:t>How does customer purchasing behavior change over time?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sz="2400" dirty="0"/>
              <a:t>These queries calculate average customer spending, identify repeat customers, and analyze how customer purchasing behavior changes over time.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A9EE94-2407-4716-B6D6-94501C44F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133" y="1146445"/>
            <a:ext cx="8858391" cy="25496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4A8370-02D7-42D4-AC8E-96D322827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042" y="2024822"/>
            <a:ext cx="4860758" cy="27337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7B4418-6C0B-430E-8514-D1E099D24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3421" y="5971280"/>
            <a:ext cx="3144061" cy="56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14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C22F5-0D2B-4A50-8B63-1338E4A36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9527"/>
            <a:ext cx="10515600" cy="513743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Georgia" panose="02040502050405020303" pitchFamily="18" charset="0"/>
              </a:rPr>
              <a:t>Which books generate the highest revenue?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This query identifies the books that generate the highest revenue, helping determine which books contribute the most to overall sales revenue.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3158C-BDAE-46CE-A112-71056D0CA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952" y="1606753"/>
            <a:ext cx="9275587" cy="15599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E4B1EA-C1C7-4EE9-9C0C-7C711C383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390" y="2111107"/>
            <a:ext cx="5967663" cy="299427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AD24020-578D-4FBB-9A1A-DBE250C6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4" y="279133"/>
            <a:ext cx="10449025" cy="65451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  <a:latin typeface="Georgia" panose="02040502050405020303" pitchFamily="18" charset="0"/>
              </a:rPr>
              <a:t>3. Understand Product and Genre Performance</a:t>
            </a:r>
            <a:endParaRPr lang="en-IN" sz="3200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DE145F-A37C-45FC-AF92-778DE084C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472" y="6111997"/>
            <a:ext cx="2618133" cy="46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429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66BC2-5D7B-4453-A669-A6A7D8380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996539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Georgia" panose="02040502050405020303" pitchFamily="18" charset="0"/>
              </a:rPr>
              <a:t>Which genres generate the highest revenue?</a:t>
            </a: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/>
              <a:t>This query identifies the genres generating the highest revenue, helping understand which genres contribute most to overall sales and are the most financially successful.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F6C4CD-CD93-4461-A155-B44BA6312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987" y="1057146"/>
            <a:ext cx="9683440" cy="22346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868260-05FB-4FC9-B683-1DB080048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150" y="1696014"/>
            <a:ext cx="3808394" cy="28089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50A794-F761-4168-88A8-27B7C5BFC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857" y="6042720"/>
            <a:ext cx="2990541" cy="53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492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D191-B03A-4BB8-9CD6-EC2B7D9F7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0399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C00000"/>
                </a:solidFill>
                <a:latin typeface="Georgia" panose="02040502050405020303" pitchFamily="18" charset="0"/>
              </a:rPr>
              <a:t>4. Understand Inventory 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26FF0-D20D-4FC1-AB38-8C1A456CF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9154"/>
            <a:ext cx="10515600" cy="544372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Georgia" panose="02040502050405020303" pitchFamily="18" charset="0"/>
              </a:rPr>
              <a:t>What are the current stock levels of each book?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2400" dirty="0"/>
              <a:t>This query shows the current stock levels of each book, helping monitor inventory, identify low-stock books, and plan restocking efficiently.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EA61C1-BC6C-4534-BD5A-532240099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050" y="1564890"/>
            <a:ext cx="8494098" cy="14670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F71F31-092E-48DE-BDB3-59768B981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62" y="2090671"/>
            <a:ext cx="4793043" cy="26766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FC1F91-1D31-440A-A0E8-461698AB7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0837" y="6126111"/>
            <a:ext cx="2974357" cy="53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49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E6F76-DE07-4D50-87B1-01CF8C97A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0139"/>
            <a:ext cx="10515600" cy="592916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Georgia" panose="02040502050405020303" pitchFamily="18" charset="0"/>
              </a:rPr>
              <a:t>What is the total inventory value by genre?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sz="2400" dirty="0"/>
              <a:t>This query calculates the total value of inventory for each genre, helping compare the financial value of stock across genres and identify which genres hold the most inventory value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0931E-759B-4926-A09C-97673C564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988" y="1070628"/>
            <a:ext cx="8077517" cy="10373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3BC17B-66F3-499F-ADD2-2B6D87812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807" y="1700162"/>
            <a:ext cx="3867374" cy="25927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5F02F9-5D9B-4F1F-9477-E24869786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2066" y="5953074"/>
            <a:ext cx="2726681" cy="48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52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56109E-99CA-4EBE-9B94-077117831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27773"/>
            <a:ext cx="10515600" cy="534919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Georgia" panose="02040502050405020303" pitchFamily="18" charset="0"/>
              </a:rPr>
              <a:t>Which books are with high stock but low sales?</a:t>
            </a: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/>
              <a:t>This query identifies books with high stock levels but low sales, helping detect slow-moving inventory and improve stock management decisions.</a:t>
            </a:r>
            <a:endParaRPr lang="en-IN" sz="2400" b="1" dirty="0">
              <a:latin typeface="Georgia" panose="020405020504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FDF6AA-45F4-4574-9578-29FA3BB5B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528" y="1395663"/>
            <a:ext cx="9817769" cy="25985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FC9E9B-4E33-413F-94E7-232F5D13A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392" y="1986689"/>
            <a:ext cx="6065622" cy="7683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9BF455-F9C5-426C-9E6C-93CC39C4E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6866" y="6024911"/>
            <a:ext cx="2786309" cy="49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914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8E790-B778-435B-9EE4-406C6A321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6" y="365125"/>
            <a:ext cx="10790274" cy="57815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5. Identify Sales and Inventory Opportunities</a:t>
            </a:r>
            <a:endParaRPr lang="en-IN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29711-B573-459C-8C26-0924C4C9D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183907"/>
            <a:ext cx="10920663" cy="5409398"/>
          </a:xfrm>
        </p:spPr>
        <p:txBody>
          <a:bodyPr/>
          <a:lstStyle/>
          <a:p>
            <a:r>
              <a:rPr lang="en-US" sz="2400" b="1" dirty="0">
                <a:latin typeface="Georgia" panose="02040502050405020303" pitchFamily="18" charset="0"/>
              </a:rPr>
              <a:t>Which books are with strong demand?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2400" dirty="0"/>
              <a:t>This query helps us to identify the books which are of strong demand as the stock of such books can be maintained and increase the sales.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28183F-A87A-472B-A0D3-BEBE934FF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604" y="1607418"/>
            <a:ext cx="10400898" cy="2223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AE38FB-A177-44EF-8E07-7C3250DAF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549" y="2351215"/>
            <a:ext cx="5086953" cy="2576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15985B-0817-41F4-AFBD-6A12BB9EE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1018" y="5934309"/>
            <a:ext cx="3162158" cy="56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278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94691-821E-4503-89C8-FEE25A67A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5642"/>
            <a:ext cx="10515600" cy="5551321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Georgia" panose="02040502050405020303" pitchFamily="18" charset="0"/>
              </a:rPr>
              <a:t>What are the books that have never been ordered?</a:t>
            </a: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/>
              <a:t>This query identifies books that have never been ordered, helping detect unsold titles and make better inventory and stocking decisions.</a:t>
            </a: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DB6B86-2A5C-4694-A839-3E437B80A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354" y="1228904"/>
            <a:ext cx="7733139" cy="18030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FCCC64-21B8-4CF9-BE47-02B21786D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797" y="1933762"/>
            <a:ext cx="4920849" cy="24457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2C8F0F-95BA-4B1F-8AD6-4AC3E02EFF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221" y="5897474"/>
            <a:ext cx="3134657" cy="55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74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7587D-63B5-407E-8058-5599F9741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827"/>
            <a:ext cx="10515600" cy="5188135"/>
          </a:xfrm>
        </p:spPr>
        <p:txBody>
          <a:bodyPr/>
          <a:lstStyle/>
          <a:p>
            <a:r>
              <a:rPr lang="en-US" sz="2400" b="1" dirty="0">
                <a:latin typeface="Georgia" panose="02040502050405020303" pitchFamily="18" charset="0"/>
              </a:rPr>
              <a:t>What are the products that may require promotional attention?</a:t>
            </a:r>
          </a:p>
          <a:p>
            <a:endParaRPr lang="en-US" sz="2400" b="1" dirty="0">
              <a:latin typeface="Georgia" panose="02040502050405020303" pitchFamily="18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51DD1-34E8-441A-B7D4-308621C83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036" y="1576586"/>
            <a:ext cx="7594332" cy="18524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E05808-410C-4725-8F76-18C5A7CC7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269" y="4016759"/>
            <a:ext cx="2986041" cy="9131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AC279E-349A-4488-8B4E-5D87F1068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1068" y="5949798"/>
            <a:ext cx="2547802" cy="45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974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47BEC-C27B-4DEF-B0EB-AB749AF2E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36884"/>
            <a:ext cx="10885371" cy="61505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>
                <a:latin typeface="Georgia" panose="02040502050405020303" pitchFamily="18" charset="0"/>
              </a:rPr>
              <a:t>What are the products that may require replenishment?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sz="2400" dirty="0"/>
              <a:t>These queries identify products with low sales that may need promotional attention and products with low stock levels that may require replenishment, helping improve sales and maintain adequate inventory.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C8C47-381B-4E5F-867C-F2347E1D5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621" y="1421169"/>
            <a:ext cx="7594331" cy="1732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15D046-F2B3-46CC-AE23-46911649A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884" y="1998224"/>
            <a:ext cx="5042137" cy="2310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41B0F7-96F0-47EE-8A63-EB5F2EC14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9886" y="5916140"/>
            <a:ext cx="3203684" cy="57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62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FD864-93D6-4863-8C33-3ED5D5DA1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253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Georgia" panose="02040502050405020303" pitchFamily="18" charset="0"/>
              </a:rPr>
              <a:t>Challenges/Experiences</a:t>
            </a:r>
            <a:endParaRPr lang="en-IN" sz="32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295D4-D64E-43EE-8C8A-B7C44A81C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2567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Learned real-time database design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Worked with multiple related tables.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Practiced SQL joins and aggregate queries.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Creating relational database by using foreign keys.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Maintaining data consistency.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Writing complex JOIN queries.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2400" dirty="0">
                <a:latin typeface="Georgia" panose="02040502050405020303" pitchFamily="18" charset="0"/>
              </a:rPr>
              <a:t>       These challenges are solved by using </a:t>
            </a:r>
            <a:r>
              <a:rPr lang="en-US" sz="2400" b="1" dirty="0">
                <a:latin typeface="Georgia" panose="02040502050405020303" pitchFamily="18" charset="0"/>
              </a:rPr>
              <a:t>primary keys, foreign keys</a:t>
            </a:r>
            <a:r>
              <a:rPr lang="en-US" sz="2400" dirty="0">
                <a:latin typeface="Georgia" panose="02040502050405020303" pitchFamily="18" charset="0"/>
              </a:rPr>
              <a:t>, aggregate functions like </a:t>
            </a:r>
            <a:r>
              <a:rPr lang="en-US" sz="2400" b="1" dirty="0">
                <a:latin typeface="Georgia" panose="02040502050405020303" pitchFamily="18" charset="0"/>
              </a:rPr>
              <a:t>sum(),avg(),count() </a:t>
            </a:r>
            <a:r>
              <a:rPr lang="en-US" sz="2400" dirty="0">
                <a:latin typeface="Georgia" panose="02040502050405020303" pitchFamily="18" charset="0"/>
              </a:rPr>
              <a:t>and clauses like </a:t>
            </a:r>
            <a:r>
              <a:rPr lang="en-US" sz="2400" b="1" dirty="0">
                <a:latin typeface="Georgia" panose="02040502050405020303" pitchFamily="18" charset="0"/>
              </a:rPr>
              <a:t>JOIN</a:t>
            </a:r>
            <a:r>
              <a:rPr lang="en-US" sz="2400" dirty="0">
                <a:latin typeface="Georgia" panose="02040502050405020303" pitchFamily="18" charset="0"/>
              </a:rPr>
              <a:t> operations, </a:t>
            </a:r>
            <a:r>
              <a:rPr lang="en-US" sz="2400" b="1" dirty="0">
                <a:latin typeface="Georgia" panose="02040502050405020303" pitchFamily="18" charset="0"/>
              </a:rPr>
              <a:t>GROUP BY, ORDER BY.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2C8A3B-CE8C-4721-BFA5-438425350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6234" y="6092161"/>
            <a:ext cx="2786309" cy="49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79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CE077-C3CD-4F25-A9A5-B0E69775A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402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Georgia" panose="02040502050405020303" pitchFamily="18" charset="0"/>
              </a:rPr>
              <a:t>Conclusion</a:t>
            </a:r>
            <a:endParaRPr lang="en-IN" sz="32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8C394-D60F-483C-A593-C66E686BB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5787"/>
            <a:ext cx="10515600" cy="4774018"/>
          </a:xfrm>
        </p:spPr>
        <p:txBody>
          <a:bodyPr>
            <a:normAutofit fontScale="92500" lnSpcReduction="20000"/>
          </a:bodyPr>
          <a:lstStyle/>
          <a:p>
            <a:pPr lvl="0" algn="just">
              <a:lnSpc>
                <a:spcPct val="150000"/>
              </a:lnSpc>
            </a:pPr>
            <a:r>
              <a:rPr lang="en-AE" sz="2400" dirty="0">
                <a:latin typeface="Georgia" panose="02040502050405020303" pitchFamily="18" charset="0"/>
              </a:rPr>
              <a:t>Successfully designed and implemented an </a:t>
            </a:r>
            <a:r>
              <a:rPr lang="en-IN" sz="2400" b="1" dirty="0">
                <a:latin typeface="Georgia" panose="02040502050405020303" pitchFamily="18" charset="0"/>
              </a:rPr>
              <a:t>Book Verse Retail Analytics</a:t>
            </a:r>
            <a:r>
              <a:rPr lang="en-AE" sz="2400" dirty="0">
                <a:latin typeface="Georgia" panose="02040502050405020303" pitchFamily="18" charset="0"/>
              </a:rPr>
              <a:t> using MySQL. </a:t>
            </a:r>
          </a:p>
          <a:p>
            <a:pPr lvl="0" algn="just">
              <a:lnSpc>
                <a:spcPct val="150000"/>
              </a:lnSpc>
            </a:pPr>
            <a:r>
              <a:rPr lang="en-AE" sz="2400" dirty="0">
                <a:latin typeface="Georgia" panose="02040502050405020303" pitchFamily="18" charset="0"/>
              </a:rPr>
              <a:t>Managed three interrelated tables for </a:t>
            </a:r>
            <a:r>
              <a:rPr lang="en-IN" sz="2400" dirty="0">
                <a:latin typeface="Georgia" panose="02040502050405020303" pitchFamily="18" charset="0"/>
              </a:rPr>
              <a:t>books, customers and orders.</a:t>
            </a:r>
            <a:endParaRPr lang="en-AE" sz="2400" dirty="0">
              <a:latin typeface="Georgia" panose="02040502050405020303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AE" sz="2400" dirty="0">
                <a:latin typeface="Georgia" panose="02040502050405020303" pitchFamily="18" charset="0"/>
              </a:rPr>
              <a:t>Used SQL queries, joins and aggregate functions to generate meaningful sales and orders insights. </a:t>
            </a:r>
          </a:p>
          <a:p>
            <a:pPr lvl="0" algn="just">
              <a:lnSpc>
                <a:spcPct val="150000"/>
              </a:lnSpc>
            </a:pPr>
            <a:r>
              <a:rPr lang="en-AE" sz="2400" dirty="0">
                <a:latin typeface="Georgia" panose="02040502050405020303" pitchFamily="18" charset="0"/>
              </a:rPr>
              <a:t>Improved understanding of relational database design, foreign keys, data integrity and SQL-based analysis. </a:t>
            </a:r>
            <a:endParaRPr lang="en-AE" sz="2400" b="1" dirty="0">
              <a:latin typeface="Georgia" panose="02040502050405020303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AE" sz="2400" dirty="0">
                <a:solidFill>
                  <a:srgbClr val="C00000"/>
                </a:solidFill>
                <a:latin typeface="Georgia" panose="02040502050405020303" pitchFamily="18" charset="0"/>
              </a:rPr>
              <a:t>“</a:t>
            </a:r>
            <a:r>
              <a:rPr lang="en-AE" sz="2400" i="1" dirty="0">
                <a:solidFill>
                  <a:srgbClr val="C00000"/>
                </a:solidFill>
                <a:latin typeface="Georgia" panose="02040502050405020303" pitchFamily="18" charset="0"/>
              </a:rPr>
              <a:t>This project helped me understand how SQL can be used to manage real-world employee data and generate meaningful business insights.”</a:t>
            </a:r>
          </a:p>
          <a:p>
            <a:endParaRPr lang="en-IN" sz="2400" dirty="0">
              <a:latin typeface="Georgia" panose="020405020504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DF6C07-D90C-447B-84B3-256F1D980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6874" y="6095251"/>
            <a:ext cx="2671242" cy="47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538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E89FC-8DAC-4BB2-8A4F-0C9CC9498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404" y="2766218"/>
            <a:ext cx="493776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Georgia" panose="02040502050405020303" pitchFamily="18" charset="0"/>
              </a:rPr>
              <a:t>THANK YOU</a:t>
            </a:r>
            <a:endParaRPr lang="en-IN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pic>
        <p:nvPicPr>
          <p:cNvPr id="5" name="Google Shape;116;p5">
            <a:extLst>
              <a:ext uri="{FF2B5EF4-FFF2-40B4-BE49-F238E27FC236}">
                <a16:creationId xmlns:a16="http://schemas.microsoft.com/office/drawing/2014/main" id="{DDCC47BE-5BA6-4AE9-B5DA-131FB07FB81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0" y="2082680"/>
            <a:ext cx="4709651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6B93B7-3C14-4D2A-9547-40970BC64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754" y="6052796"/>
            <a:ext cx="2667053" cy="47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85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916</Words>
  <Application>Microsoft Office PowerPoint</Application>
  <PresentationFormat>Widescreen</PresentationFormat>
  <Paragraphs>199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Georgia</vt:lpstr>
      <vt:lpstr>Office Theme</vt:lpstr>
      <vt:lpstr>PowerPoint Presentation</vt:lpstr>
      <vt:lpstr>About Me</vt:lpstr>
      <vt:lpstr>Agenda</vt:lpstr>
      <vt:lpstr>Project overview</vt:lpstr>
      <vt:lpstr>ER Diagram &amp; Database Structure</vt:lpstr>
      <vt:lpstr>Basic Analysis-Questions</vt:lpstr>
      <vt:lpstr>PowerPoint Presentation</vt:lpstr>
      <vt:lpstr>Key Analysis Questions</vt:lpstr>
      <vt:lpstr>PowerPoint Presentation</vt:lpstr>
      <vt:lpstr>PowerPoint Presentation</vt:lpstr>
      <vt:lpstr>2. Understand Customer Purchasing Behaviour</vt:lpstr>
      <vt:lpstr>PowerPoint Presentation</vt:lpstr>
      <vt:lpstr>3. Understand Product and Genre Performance</vt:lpstr>
      <vt:lpstr>PowerPoint Presentation</vt:lpstr>
      <vt:lpstr>4. Understand Inventory Position</vt:lpstr>
      <vt:lpstr>PowerPoint Presentation</vt:lpstr>
      <vt:lpstr>PowerPoint Presentation</vt:lpstr>
      <vt:lpstr>5. Identify Sales and Inventory Opportunities</vt:lpstr>
      <vt:lpstr>PowerPoint Presentation</vt:lpstr>
      <vt:lpstr>PowerPoint Presentation</vt:lpstr>
      <vt:lpstr>PowerPoint Presentation</vt:lpstr>
      <vt:lpstr>Challenges/Experiences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samanthula nikitha</dc:creator>
  <cp:lastModifiedBy>samanthula nikitha</cp:lastModifiedBy>
  <cp:revision>39</cp:revision>
  <dcterms:created xsi:type="dcterms:W3CDTF">2026-09-04T09:14:59Z</dcterms:created>
  <dcterms:modified xsi:type="dcterms:W3CDTF">2026-09-05T13:29:56Z</dcterms:modified>
</cp:coreProperties>
</file>